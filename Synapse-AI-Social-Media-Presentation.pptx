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3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1" snapToObjects="1"/>
  </p:slideViewPr>
  <p:notesTextViewPr>
    <p:cViewPr varScale="1"/>
  </p:notesTextViewPr>
</p:viewPr>
</file>

<file path=ppt/_rels/presentation.xml.rels><?xml version="1.0" encoding="UTF-8" standalone="yes"?>
      <Relationships xmlns="http://schemas.openxmlformats.org/package/2006/relationships">
        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Relationship Id="rId6" Type="http://schemas.openxmlformats.org/officeDocument/2006/relationships/slide" Target="slides/slide6.xml"/>
<Relationship Id="rId7" Type="http://schemas.openxmlformats.org/officeDocument/2006/relationships/slide" Target="slides/slide7.xml"/>
<Relationship Id="rId8" Type="http://schemas.openxmlformats.org/officeDocument/2006/relationships/slide" Target="slides/slide8.xml"/>
<Relationship Id="rId9" Type="http://schemas.openxmlformats.org/officeDocument/2006/relationships/slide" Target="slides/slide9.xml"/>
<Relationship Id="rId10" Type="http://schemas.openxmlformats.org/officeDocument/2006/relationships/slide" Target="slides/slide10.xml"/>
<Relationship Id="rId11" Type="http://schemas.openxmlformats.org/officeDocument/2006/relationships/slide" Target="slides/slide11.xml"/>
<Relationship Id="rId12" Type="http://schemas.openxmlformats.org/officeDocument/2006/relationships/slide" Target="slides/slide12.xml"/>
        <Relationship Id="rId13" Type="http://schemas.openxmlformats.org/officeDocument/2006/relationships/slideMaster" Target="slideMasters/slideMaster1.xml"/>
        <Relationship Id="rId14" Type="http://schemas.openxmlformats.org/officeDocument/2006/relationships/presProps" Target="presProps.xml"/>
        <Relationship Id="rId15" Type="http://schemas.openxmlformats.org/officeDocument/2006/relationships/viewProps" Target="viewProps.xml"/>
        <Relationship Id="rId16" Type="http://schemas.openxmlformats.org/officeDocument/2006/relationships/tableStyles" Target="tableStyles.xml"/>
      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ynapse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457200" y="342900"/>
            <a:ext cx="10972800" cy="228600"/>
          </a:xfrm>
          <a:prstGeom prst="rect">
            <a:avLst/>
          </a:prstGeom>
          <a:solidFill>
            <a:srgbClr val="00E5FF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85800" y="731520"/>
            <a:ext cx="10744200" cy="914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en-US" sz="2800" b="1"/>
              <a:t>Synapse AI Social Media Analytics</a:t>
            </a:r>
            <a:endParaRPr lang="en-US" sz="2800"/>
          </a:p>
        </p:txBody>
      </p:sp>
      <p:sp>
        <p:nvSpPr>
          <p:cNvPr id="4" name="Body"/>
          <p:cNvSpPr txBox="1"/>
          <p:nvPr/>
        </p:nvSpPr>
        <p:spPr>
          <a:xfrm>
            <a:off x="685800" y="1645920"/>
            <a:ext cx="10744200" cy="4389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en-US" sz="2200"/>
              <a:t>Final year project presentation</a:t>
            </a:r>
            <a:endParaRPr lang="en-US" sz="2200"/>
          </a:p>
          <a:p>
            <a:r>
              <a:rPr lang="en-US" sz="2000"/>
              <a:t>- AI-powered analytics platform for Instagram, YouTube, and X / Twitter</a:t>
            </a:r>
            <a:endParaRPr lang="en-US" sz="2000"/>
          </a:p>
          <a:p>
            <a:r>
              <a:rPr lang="en-US" sz="2000"/>
              <a:t>- Built with React, FastAPI, MongoDB, Redis / Memurai, and Firebase Authentication</a:t>
            </a:r>
            <a:endParaRPr lang="en-US" sz="2000"/>
          </a:p>
          <a:p>
            <a:r>
              <a:rPr lang="en-US" sz="2000"/>
              <a:t>- Combines dashboard analytics, risk detection, recommendations, and automated reporting</a:t>
            </a:r>
            <a:endParaRPr lang="en-US"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457200" y="342900"/>
            <a:ext cx="10972800" cy="228600"/>
          </a:xfrm>
          <a:prstGeom prst="rect">
            <a:avLst/>
          </a:prstGeom>
          <a:solidFill>
            <a:srgbClr val="00E5FF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85800" y="731520"/>
            <a:ext cx="10744200" cy="914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en-US" sz="2800" b="1"/>
              <a:t>Problem Statement</a:t>
            </a:r>
            <a:endParaRPr lang="en-US" sz="2800"/>
          </a:p>
        </p:txBody>
      </p:sp>
      <p:sp>
        <p:nvSpPr>
          <p:cNvPr id="4" name="Body"/>
          <p:cNvSpPr txBox="1"/>
          <p:nvPr/>
        </p:nvSpPr>
        <p:spPr>
          <a:xfrm>
            <a:off x="685800" y="1645920"/>
            <a:ext cx="10744200" cy="4389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en-US" sz="2000"/>
              <a:t>- Social performance data is fragmented across multiple platforms</a:t>
            </a:r>
            <a:endParaRPr lang="en-US" sz="2000"/>
          </a:p>
          <a:p>
            <a:r>
              <a:rPr lang="en-US" sz="2000"/>
              <a:t>- Creators and brands struggle to understand audience mood, moderation risk, and growth direction quickly</a:t>
            </a:r>
            <a:endParaRPr lang="en-US" sz="2000"/>
          </a:p>
          <a:p>
            <a:r>
              <a:rPr lang="en-US" sz="2000"/>
              <a:t>- Manual reporting is slow and difficult to repeat consistently</a:t>
            </a:r>
            <a:endParaRPr lang="en-US"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457200" y="342900"/>
            <a:ext cx="10972800" cy="228600"/>
          </a:xfrm>
          <a:prstGeom prst="rect">
            <a:avLst/>
          </a:prstGeom>
          <a:solidFill>
            <a:srgbClr val="00E5FF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85800" y="731520"/>
            <a:ext cx="10744200" cy="914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en-US" sz="2800" b="1"/>
              <a:t>Project Objective</a:t>
            </a:r>
            <a:endParaRPr lang="en-US" sz="2800"/>
          </a:p>
        </p:txBody>
      </p:sp>
      <p:sp>
        <p:nvSpPr>
          <p:cNvPr id="4" name="Body"/>
          <p:cNvSpPr txBox="1"/>
          <p:nvPr/>
        </p:nvSpPr>
        <p:spPr>
          <a:xfrm>
            <a:off x="685800" y="1645920"/>
            <a:ext cx="10744200" cy="4389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en-US" sz="2000"/>
              <a:t>- Bring Instagram, YouTube, and X / Twitter data into one analytics workspace</a:t>
            </a:r>
            <a:endParaRPr lang="en-US" sz="2000"/>
          </a:p>
          <a:p>
            <a:r>
              <a:rPr lang="en-US" sz="2000"/>
              <a:t>- Use AI-style analysis for sentiment, emotion, toxicity, prediction, and explainability</a:t>
            </a:r>
            <a:endParaRPr lang="en-US" sz="2000"/>
          </a:p>
          <a:p>
            <a:r>
              <a:rPr lang="en-US" sz="2000"/>
              <a:t>- Provide a simple dashboard for both end users and administrators</a:t>
            </a:r>
            <a:endParaRPr lang="en-US"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457200" y="342900"/>
            <a:ext cx="10972800" cy="228600"/>
          </a:xfrm>
          <a:prstGeom prst="rect">
            <a:avLst/>
          </a:prstGeom>
          <a:solidFill>
            <a:srgbClr val="00E5FF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85800" y="731520"/>
            <a:ext cx="10744200" cy="914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en-US" sz="2800" b="1"/>
              <a:t>System Architecture</a:t>
            </a:r>
            <a:endParaRPr lang="en-US" sz="2800"/>
          </a:p>
        </p:txBody>
      </p:sp>
      <p:sp>
        <p:nvSpPr>
          <p:cNvPr id="4" name="Body"/>
          <p:cNvSpPr txBox="1"/>
          <p:nvPr/>
        </p:nvSpPr>
        <p:spPr>
          <a:xfrm>
            <a:off x="685800" y="1645920"/>
            <a:ext cx="10744200" cy="4389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en-US" sz="2000"/>
              <a:t>- Frontend: React + Vite + Tailwind + Recharts</a:t>
            </a:r>
            <a:endParaRPr lang="en-US" sz="2000"/>
          </a:p>
          <a:p>
            <a:r>
              <a:rPr lang="en-US" sz="2000"/>
              <a:t>- Backend: FastAPI services for auth, providers, dashboard, alerts, and reports</a:t>
            </a:r>
            <a:endParaRPr lang="en-US" sz="2000"/>
          </a:p>
          <a:p>
            <a:r>
              <a:rPr lang="en-US" sz="2000"/>
              <a:t>- Storage: MongoDB for data, Redis / Memurai for connected preview + dashboard snapshot cache, local storage for uploads and HTML reports</a:t>
            </a:r>
            <a:endParaRPr lang="en-US" sz="2000"/>
          </a:p>
          <a:p>
            <a:r>
              <a:rPr lang="en-US" sz="2000"/>
              <a:t>- Integrations: Firebase, Google APIs, Meta APIs, and an X / Twitter live source</a:t>
            </a:r>
            <a:endParaRPr lang="en-US"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457200" y="342900"/>
            <a:ext cx="10972800" cy="228600"/>
          </a:xfrm>
          <a:prstGeom prst="rect">
            <a:avLst/>
          </a:prstGeom>
          <a:solidFill>
            <a:srgbClr val="00E5FF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85800" y="731520"/>
            <a:ext cx="10744200" cy="914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en-US" sz="2800" b="1"/>
              <a:t>Implemented User Features</a:t>
            </a:r>
            <a:endParaRPr lang="en-US" sz="2800"/>
          </a:p>
        </p:txBody>
      </p:sp>
      <p:sp>
        <p:nvSpPr>
          <p:cNvPr id="4" name="Body"/>
          <p:cNvSpPr txBox="1"/>
          <p:nvPr/>
        </p:nvSpPr>
        <p:spPr>
          <a:xfrm>
            <a:off x="685800" y="1645920"/>
            <a:ext cx="10744200" cy="4389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en-US" sz="2000"/>
              <a:t>- Real-time dashboard metrics and platform rollups</a:t>
            </a:r>
            <a:endParaRPr lang="en-US" sz="2000"/>
          </a:p>
          <a:p>
            <a:r>
              <a:rPr lang="en-US" sz="2000"/>
              <a:t>- Sentiment analysis, emotion detection, and toxicity detection</a:t>
            </a:r>
            <a:endParaRPr lang="en-US" sz="2000"/>
          </a:p>
          <a:p>
            <a:r>
              <a:rPr lang="en-US" sz="2000"/>
              <a:t>- Audience insights, predictive analysis, explainable AI, and floating analytics assistant</a:t>
            </a:r>
            <a:endParaRPr lang="en-US" sz="2000"/>
          </a:p>
          <a:p>
            <a:r>
              <a:rPr lang="en-US" sz="2000"/>
              <a:t>- Trending hashtags, recommendations, crisis alerts, and automated reports</a:t>
            </a:r>
            <a:endParaRPr lang="en-US"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457200" y="342900"/>
            <a:ext cx="10972800" cy="228600"/>
          </a:xfrm>
          <a:prstGeom prst="rect">
            <a:avLst/>
          </a:prstGeom>
          <a:solidFill>
            <a:srgbClr val="00E5FF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85800" y="731520"/>
            <a:ext cx="10744200" cy="914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en-US" sz="2800" b="1"/>
              <a:t>Implemented Admin Features</a:t>
            </a:r>
            <a:endParaRPr lang="en-US" sz="2800"/>
          </a:p>
        </p:txBody>
      </p:sp>
      <p:sp>
        <p:nvSpPr>
          <p:cNvPr id="4" name="Body"/>
          <p:cNvSpPr txBox="1"/>
          <p:nvPr/>
        </p:nvSpPr>
        <p:spPr>
          <a:xfrm>
            <a:off x="685800" y="1645920"/>
            <a:ext cx="10744200" cy="4389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en-US" sz="2000"/>
              <a:t>- Managed user monitoring and editing</a:t>
            </a:r>
            <a:endParaRPr lang="en-US" sz="2000"/>
          </a:p>
          <a:p>
            <a:r>
              <a:rPr lang="en-US" sz="2000"/>
              <a:t>- User-specific analytics inspection</a:t>
            </a:r>
            <a:endParaRPr lang="en-US" sz="2000"/>
          </a:p>
          <a:p>
            <a:r>
              <a:rPr lang="en-US" sz="2000"/>
              <a:t>- Connection and report removal</a:t>
            </a:r>
            <a:endParaRPr lang="en-US" sz="2000"/>
          </a:p>
          <a:p>
            <a:r>
              <a:rPr lang="en-US" sz="2000"/>
              <a:t>- System alert creation and operations overview</a:t>
            </a:r>
            <a:endParaRPr lang="en-US" sz="2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457200" y="342900"/>
            <a:ext cx="10972800" cy="228600"/>
          </a:xfrm>
          <a:prstGeom prst="rect">
            <a:avLst/>
          </a:prstGeom>
          <a:solidFill>
            <a:srgbClr val="00E5FF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85800" y="731520"/>
            <a:ext cx="10744200" cy="914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en-US" sz="2800" b="1"/>
              <a:t>Analytics Engine</a:t>
            </a:r>
            <a:endParaRPr lang="en-US" sz="2800"/>
          </a:p>
        </p:txBody>
      </p:sp>
      <p:sp>
        <p:nvSpPr>
          <p:cNvPr id="4" name="Body"/>
          <p:cNvSpPr txBox="1"/>
          <p:nvPr/>
        </p:nvSpPr>
        <p:spPr>
          <a:xfrm>
            <a:off x="685800" y="1645920"/>
            <a:ext cx="10744200" cy="4389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en-US" sz="2000"/>
              <a:t>- Content score combines views, likes, comments, replies, reposts, quotes, saves, and shares</a:t>
            </a:r>
            <a:endParaRPr lang="en-US" sz="2000"/>
          </a:p>
          <a:p>
            <a:r>
              <a:rPr lang="en-US" sz="2000"/>
              <a:t>- Trend strength is grouped by day of week and publishing window</a:t>
            </a:r>
            <a:endParaRPr lang="en-US" sz="2000"/>
          </a:p>
          <a:p>
            <a:r>
              <a:rPr lang="en-US" sz="2000"/>
              <a:t>- Prediction compares recent engagement against earlier baseline momentum</a:t>
            </a:r>
            <a:endParaRPr lang="en-US" sz="2000"/>
          </a:p>
          <a:p>
            <a:r>
              <a:rPr lang="en-US" sz="2000"/>
              <a:t>- Explainable AI exposes the factors behind audience, risk, and recommendation outputs</a:t>
            </a:r>
            <a:endParaRPr lang="en-US"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457200" y="342900"/>
            <a:ext cx="10972800" cy="228600"/>
          </a:xfrm>
          <a:prstGeom prst="rect">
            <a:avLst/>
          </a:prstGeom>
          <a:solidFill>
            <a:srgbClr val="00E5FF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85800" y="731520"/>
            <a:ext cx="10744200" cy="914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en-US" sz="2800" b="1"/>
              <a:t>Platform Connection Flow</a:t>
            </a:r>
            <a:endParaRPr lang="en-US" sz="2800"/>
          </a:p>
        </p:txBody>
      </p:sp>
      <p:sp>
        <p:nvSpPr>
          <p:cNvPr id="4" name="Body"/>
          <p:cNvSpPr txBox="1"/>
          <p:nvPr/>
        </p:nvSpPr>
        <p:spPr>
          <a:xfrm>
            <a:off x="685800" y="1645920"/>
            <a:ext cx="10744200" cy="4389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en-US" sz="2000"/>
              <a:t>- Instagram: Professional account + Facebook Page + Meta app permissions</a:t>
            </a:r>
            <a:endParaRPr lang="en-US" sz="2000"/>
          </a:p>
          <a:p>
            <a:r>
              <a:rPr lang="en-US" sz="2000"/>
              <a:t>- YouTube: Google OAuth + YouTube Data API + YouTube Analytics API</a:t>
            </a:r>
            <a:endParaRPr lang="en-US" sz="2000"/>
          </a:p>
          <a:p>
            <a:r>
              <a:rPr lang="en-US" sz="2000"/>
              <a:t>- X / Twitter: Handle-based connect using a live public data source token</a:t>
            </a:r>
            <a:endParaRPr lang="en-US" sz="2000"/>
          </a:p>
          <a:p>
            <a:r>
              <a:rPr lang="en-US" sz="2000"/>
              <a:t>- Connected data is cached and aggregated into dashboard snapshots for faster reloads</a:t>
            </a:r>
            <a:endParaRPr lang="en-US"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457200" y="342900"/>
            <a:ext cx="10972800" cy="228600"/>
          </a:xfrm>
          <a:prstGeom prst="rect">
            <a:avLst/>
          </a:prstGeom>
          <a:solidFill>
            <a:srgbClr val="00E5FF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85800" y="731520"/>
            <a:ext cx="10744200" cy="914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en-US" sz="2800" b="1"/>
              <a:t>Setup Requirements</a:t>
            </a:r>
            <a:endParaRPr lang="en-US" sz="2800"/>
          </a:p>
        </p:txBody>
      </p:sp>
      <p:sp>
        <p:nvSpPr>
          <p:cNvPr id="4" name="Body"/>
          <p:cNvSpPr txBox="1"/>
          <p:nvPr/>
        </p:nvSpPr>
        <p:spPr>
          <a:xfrm>
            <a:off x="685800" y="1645920"/>
            <a:ext cx="10744200" cy="4389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en-US" sz="2000"/>
              <a:t>- Windows machine with Node.js, Python 3.11, MongoDB, Redis or Memurai, and Git</a:t>
            </a:r>
            <a:endParaRPr lang="en-US" sz="2000"/>
          </a:p>
          <a:p>
            <a:r>
              <a:rPr lang="en-US" sz="2000"/>
              <a:t>- Firebase project with Email, Google, GitHub, and Facebook providers enabled</a:t>
            </a:r>
            <a:endParaRPr lang="en-US" sz="2000"/>
          </a:p>
          <a:p>
            <a:r>
              <a:rPr lang="en-US" sz="2000"/>
              <a:t>- Google and Meta developer credentials configured in environment files</a:t>
            </a:r>
            <a:endParaRPr lang="en-US" sz="2000"/>
          </a:p>
          <a:p>
            <a:r>
              <a:rPr lang="en-US" sz="2000"/>
              <a:t>- One X / Twitter live source token configured in backend .env</a:t>
            </a:r>
            <a:endParaRPr lang="en-US" sz="2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457200" y="342900"/>
            <a:ext cx="10972800" cy="228600"/>
          </a:xfrm>
          <a:prstGeom prst="rect">
            <a:avLst/>
          </a:prstGeom>
          <a:solidFill>
            <a:srgbClr val="00E5FF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85800" y="731520"/>
            <a:ext cx="10744200" cy="914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en-US" sz="2800" b="1"/>
              <a:t>Project Deliverables</a:t>
            </a:r>
            <a:endParaRPr lang="en-US" sz="2800"/>
          </a:p>
        </p:txBody>
      </p:sp>
      <p:sp>
        <p:nvSpPr>
          <p:cNvPr id="4" name="Body"/>
          <p:cNvSpPr txBox="1"/>
          <p:nvPr/>
        </p:nvSpPr>
        <p:spPr>
          <a:xfrm>
            <a:off x="685800" y="1645920"/>
            <a:ext cx="10744200" cy="4389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en-US" sz="2000"/>
              <a:t>- Full-stack source code with separate frontend and backend</a:t>
            </a:r>
            <a:endParaRPr lang="en-US" sz="2000"/>
          </a:p>
          <a:p>
            <a:r>
              <a:rPr lang="en-US" sz="2000"/>
              <a:t>- Single README handoff guide with setup, workflow, analytics formulas, and file guide</a:t>
            </a:r>
            <a:endParaRPr lang="en-US" sz="2000"/>
          </a:p>
          <a:p>
            <a:r>
              <a:rPr lang="en-US" sz="2000"/>
              <a:t>- Shareable HTML report generation</a:t>
            </a:r>
            <a:endParaRPr lang="en-US" sz="2000"/>
          </a:p>
          <a:p>
            <a:r>
              <a:rPr lang="en-US" sz="2000"/>
              <a:t>- Production frontend build and backend compile verification completed</a:t>
            </a:r>
            <a:endParaRPr lang="en-US" sz="2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457200" y="342900"/>
            <a:ext cx="10972800" cy="228600"/>
          </a:xfrm>
          <a:prstGeom prst="rect">
            <a:avLst/>
          </a:prstGeom>
          <a:solidFill>
            <a:srgbClr val="00E5FF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85800" y="731520"/>
            <a:ext cx="10744200" cy="914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en-US" sz="2800" b="1"/>
              <a:t>Future Scope</a:t>
            </a:r>
            <a:endParaRPr lang="en-US" sz="2800"/>
          </a:p>
        </p:txBody>
      </p:sp>
      <p:sp>
        <p:nvSpPr>
          <p:cNvPr id="4" name="Body"/>
          <p:cNvSpPr txBox="1"/>
          <p:nvPr/>
        </p:nvSpPr>
        <p:spPr>
          <a:xfrm>
            <a:off x="685800" y="1645920"/>
            <a:ext cx="10744200" cy="4389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en-US" sz="2000"/>
              <a:t>- Replace heuristic NLP fallback with hosted transformer models</a:t>
            </a:r>
            <a:endParaRPr lang="en-US" sz="2000"/>
          </a:p>
          <a:p>
            <a:r>
              <a:rPr lang="en-US" sz="2000"/>
              <a:t>- Add scheduled background sync jobs and email alerts</a:t>
            </a:r>
            <a:endParaRPr lang="en-US" sz="2000"/>
          </a:p>
          <a:p>
            <a:r>
              <a:rPr lang="en-US" sz="2000"/>
              <a:t>- Add richer audience segmentation and cross-platform campaign attribution</a:t>
            </a:r>
            <a:endParaRPr lang="en-US" sz="2000"/>
          </a:p>
          <a:p>
            <a:r>
              <a:rPr lang="en-US" sz="2000"/>
              <a:t>- Deploy to cloud infrastructure with role-based monitoring and audit logs</a:t>
            </a:r>
            <a:endParaRPr lang="en-US" sz="2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457200" y="342900"/>
            <a:ext cx="10972800" cy="228600"/>
          </a:xfrm>
          <a:prstGeom prst="rect">
            <a:avLst/>
          </a:prstGeom>
          <a:solidFill>
            <a:srgbClr val="00E5FF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85800" y="731520"/>
            <a:ext cx="10744200" cy="914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en-US" sz="2800" b="1"/>
              <a:t>Conclusion</a:t>
            </a:r>
            <a:endParaRPr lang="en-US" sz="2800"/>
          </a:p>
        </p:txBody>
      </p:sp>
      <p:sp>
        <p:nvSpPr>
          <p:cNvPr id="4" name="Body"/>
          <p:cNvSpPr txBox="1"/>
          <p:nvPr/>
        </p:nvSpPr>
        <p:spPr>
          <a:xfrm>
            <a:off x="685800" y="1645920"/>
            <a:ext cx="10744200" cy="4389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en-US" sz="2000"/>
              <a:t>- Synapse centralizes social analytics, moderation signals, prediction, and reporting in one system</a:t>
            </a:r>
            <a:endParaRPr lang="en-US" sz="2000"/>
          </a:p>
          <a:p>
            <a:r>
              <a:rPr lang="en-US" sz="2000"/>
              <a:t>- The current build is demo-ready, client-ready, and documented for local Windows setup</a:t>
            </a:r>
            <a:endParaRPr lang="en-US" sz="2000"/>
          </a:p>
          <a:p>
            <a:r>
              <a:rPr lang="en-US" sz="2000"/>
              <a:t>- It satisfies the requested feature set for an academic final-year AI social media analytics project</a:t>
            </a:r>
            <a:endParaRPr lang="en-US"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ynapse Theme">
  <a:themeElements>
    <a:clrScheme name="Synapse Colors">
      <a:dk1>
        <a:srgbClr val="0B1120"/>
      </a:dk1>
      <a:lt1>
        <a:srgbClr val="F8FAFC"/>
      </a:lt1>
      <a:dk2>
        <a:srgbClr val="111827"/>
      </a:dk2>
      <a:lt2>
        <a:srgbClr val="E2E8F0"/>
      </a:lt2>
      <a:accent1>
        <a:srgbClr val="00E5FF"/>
      </a:accent1>
      <a:accent2>
        <a:srgbClr val="F43F5E"/>
      </a:accent2>
      <a:accent3>
        <a:srgbClr val="F59E0B"/>
      </a:accent3>
      <a:accent4>
        <a:srgbClr val="22C55E"/>
      </a:accent4>
      <a:accent5>
        <a:srgbClr val="A855F7"/>
      </a:accent5>
      <a:accent6>
        <a:srgbClr val="94A3B8"/>
      </a:accent6>
      <a:hlink>
        <a:srgbClr val="38BDF8"/>
      </a:hlink>
      <a:folHlink>
        <a:srgbClr val="7C3AED"/>
      </a:folHlink>
    </a:clrScheme>
    <a:fontScheme name="Synapse Fonts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Synapse Format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9525">
          <a:solidFill>
            <a:schemeClr val="accent1"/>
          </a:solidFill>
        </a:ln>
        <a:ln w="25400">
          <a:solidFill>
            <a:schemeClr val="accent2"/>
          </a:solidFill>
        </a:ln>
        <a:ln w="38100">
          <a:solidFill>
            <a:schemeClr val="accent3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dk1"/>
        </a:solidFill>
        <a:solidFill>
          <a:schemeClr val="dk2"/>
        </a:solidFill>
        <a:solidFill>
          <a:schemeClr val="lt1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OpenAI Codex</Application>
  <PresentationFormat>On-screen Show (16:9)</PresentationFormat>
  <Slides>12</Slides>
  <Notes>0</Notes>
  <HiddenSlides>0</HiddenSlides>
  <MMClips>0</MMClips>
  <ScaleCrop>false</ScaleCrop>
  <HeadingPairs>
    <vt:vector size="2" baseType="variant">
      <vt:variant>
        <vt:lpstr>Theme</vt:lpstr>
      </vt:variant>
      <vt:variant>
        <vt:i4>1</vt:i4>
      </vt:variant>
    </vt:vector>
  </HeadingPairs>
  <TitlesOfParts>
    <vt:vector size="1" baseType="lpstr">
      <vt:lpstr>Office Theme</vt:lpstr>
    </vt:vector>
  </TitlesOfParts>
  <Company>OpenAI</Company>
  <LinksUpToDate>false</LinksUpToDate>
  <SharedDoc>false</SharedDoc>
  <HyperlinksChanged>false</HyperlinksChanged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Synapse AI Social Media Analytics</dc:title>
  <dc:creator>OpenAI Codex</dc:creator>
  <cp:lastModifiedBy>OpenAI Codex</cp:lastModifiedBy>
  <dcterms:created xsi:type="dcterms:W3CDTF">2026-05-05T14:33:38Z</dcterms:created>
  <dcterms:modified xsi:type="dcterms:W3CDTF">2026-05-05T14:33:38Z</dcterms:modified>
</cp:coreProperties>
</file>